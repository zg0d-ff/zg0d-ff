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Huffman Coding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42316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ED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“a good code exists” to “watch me build it.”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3393338" cy="1097280"/>
          </a:xfrm>
          <a:prstGeom prst="roundRect">
            <a:avLst>
              <a:gd name="adj" fmla="val 8333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8A94A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3364992"/>
            <a:ext cx="321045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we left off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399178" y="3291840"/>
            <a:ext cx="3393338" cy="1097280"/>
          </a:xfrm>
          <a:prstGeom prst="roundRect">
            <a:avLst>
              <a:gd name="adj" fmla="val 8333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967740000" dist="322580000" dir="324000000000">
              <a:srgbClr val="8A94A6">
                <a:alpha val="25000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90618" y="3364992"/>
            <a:ext cx="321045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Huffman builds a code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66837" y="3291840"/>
            <a:ext cx="3393338" cy="1097280"/>
          </a:xfrm>
          <a:prstGeom prst="roundRect">
            <a:avLst>
              <a:gd name="adj" fmla="val 8333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2290298000000" dist="4096766000000" dir="19440000000000000">
              <a:srgbClr val="8A94A6">
                <a:alpha val="2500000000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158277" y="3364992"/>
            <a:ext cx="321045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EXAMPLES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sources, step by step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B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Semester B.Tech ECE  •  Information Theory &amp; Coding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 Quick recap: where we left 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told us a code can fit. Entropy told us the limit.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93338" cy="1051560"/>
          </a:xfrm>
          <a:prstGeom prst="roundRect">
            <a:avLst>
              <a:gd name="adj" fmla="val 8696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56086784600000000" dist="52028928200000000" dir="1.1664e+21">
              <a:srgbClr val="8A94A6">
                <a:alpha val="250000000000000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19072"/>
            <a:ext cx="3210458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I build this prefix code?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99178" y="1645920"/>
            <a:ext cx="3393338" cy="1051560"/>
          </a:xfrm>
          <a:prstGeom prst="roundRect">
            <a:avLst>
              <a:gd name="adj" fmla="val 8696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.98230216442e+21" dist="660767388140000000000" dir="6.9984e+25">
              <a:srgbClr val="8A94A6">
                <a:alpha val="2.5e+24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0618" y="1719072"/>
            <a:ext cx="3210458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ENTROPY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the theoretical limit?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066837" y="1645920"/>
            <a:ext cx="3393338" cy="1051560"/>
          </a:xfrm>
          <a:prstGeom prst="roundRect">
            <a:avLst>
              <a:gd name="adj" fmla="val 8696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2.5175237488134e+25" dist="8.391745829378e+24" dir="4.19904e+30">
              <a:srgbClr val="8A94A6">
                <a:alpha val="2.5000000000000004e+2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58277" y="1719072"/>
            <a:ext cx="3210458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CODING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close can I get?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063240"/>
            <a:ext cx="10362895" cy="914400"/>
          </a:xfrm>
          <a:prstGeom prst="roundRect">
            <a:avLst>
              <a:gd name="adj" fmla="val 12000"/>
            </a:avLst>
          </a:prstGeom>
          <a:solidFill>
            <a:srgbClr val="E4F6EC"/>
          </a:solidFill>
          <a:ln/>
          <a:effectLst>
            <a:outerShdw sx="100000" sy="100000" kx="0" ky="0" algn="bl" rotWithShape="0" blurRad="3.197255160993018e+29" dist="1.0657517203310059e+29" dir="2.519424e+35">
              <a:srgbClr val="8A94A6">
                <a:alpha val="2.5000000000000004e+3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3063240"/>
            <a:ext cx="99971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H(X)  ≤  L  &lt;  H(X) + 1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246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theorem promises a good code EXISTS — it never tells us how to build one.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A0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That's the gap Huffman coding fills.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Meet Huffman Coding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recipe for building a prefix code, symbol by symbol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393338" cy="1097280"/>
          </a:xfrm>
          <a:prstGeom prst="roundRect">
            <a:avLst>
              <a:gd name="adj" fmla="val 8333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4.0605140544611325e+33" dist="1.3535046848203775e+33" dir="1.5116544e+40">
              <a:srgbClr val="8A94A6">
                <a:alpha val="2.5000000000000004e+39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64792"/>
            <a:ext cx="321045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1952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Proposed by David Huffman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99178" y="1691640"/>
            <a:ext cx="3393338" cy="1097280"/>
          </a:xfrm>
          <a:prstGeom prst="roundRect">
            <a:avLst>
              <a:gd name="adj" fmla="val 8333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5.156852849165638e+37" dist="1.7189509497218795e+37" dir="9.069926400000001e+44">
              <a:srgbClr val="8A94A6">
                <a:alpha val="2.5000000000000002e+44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0618" y="1764792"/>
            <a:ext cx="321045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 the symbol probabilities P(xᵢ)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066837" y="1691640"/>
            <a:ext cx="3393338" cy="1097280"/>
          </a:xfrm>
          <a:prstGeom prst="roundRect">
            <a:avLst>
              <a:gd name="adj" fmla="val 8333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6.549203118440361e+41" dist="2.183067706146787e+41" dir="5.44195584e+49">
              <a:srgbClr val="8A94A6">
                <a:alpha val="2.5e+4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58277" y="1764792"/>
            <a:ext cx="321045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prefix code, built bottom-up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200400"/>
            <a:ext cx="10362895" cy="914400"/>
          </a:xfrm>
          <a:prstGeom prst="roundRect">
            <a:avLst>
              <a:gd name="adj" fmla="val 12000"/>
            </a:avLst>
          </a:prstGeom>
          <a:solidFill>
            <a:srgbClr val="E4F6EC"/>
          </a:solidFill>
          <a:ln/>
          <a:effectLst>
            <a:outerShdw sx="100000" sy="100000" kx="0" ky="0" algn="bl" rotWithShape="0" blurRad="8.317487960419258e+45" dist="2.7724959868064195e+45" dir="3.2651735040000005e+54">
              <a:srgbClr val="8A94A6">
                <a:alpha val="2.5e+5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3200400"/>
            <a:ext cx="99971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Optimal: no other prefix code has a smaller average length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prefix-code guarantee as before — but now we know exactly how to construct it.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The algorithm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steps, repeated until one symbol remains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158191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819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27632" y="1536192"/>
            <a:ext cx="9558223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Arrange all source symbols in decreasing order of probability.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05840" y="2423160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27632" y="2377440"/>
            <a:ext cx="9558223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 the two lowest-probability symbols and tie them together into one combined node.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05840" y="3264408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644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27632" y="3218688"/>
            <a:ext cx="9558223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their probabilities; write the sum on the combined node, and re-sort.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05840" y="4105656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10565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27632" y="4059936"/>
            <a:ext cx="9558223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steps 2–3 until only one node is left — its probability must be 1.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05840" y="4946904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94690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27632" y="4901184"/>
            <a:ext cx="9558223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every split with a 0 (one branch) and a 1 (the other). Read root → leaf to get each codeword.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Back to our A, B, C, D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source we used for entropy and the source coding theorem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.0563209709732457e+50" dist="3.5210699032441527e+49" dir="1.9591041024000004e+59">
              <a:srgbClr val="8A94A6">
                <a:alpha val="2.5e+59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90195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82264" y="182880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.341527633136022e+54" dist="4.471758777120074e+53" dir="1.1754624614400003e+64">
              <a:srgbClr val="8A94A6">
                <a:alpha val="2.5e+64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73704" y="190195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0.25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33008" y="182880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.7037400940827478e+58" dist="5.679133646942494e+57" dir="7.052774768640002e+68">
              <a:srgbClr val="8A94A6">
                <a:alpha val="2.4999999999999998e+6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4448" y="190195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0.125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983751" y="182880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FCE5E5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2.16374991948509e+62" dist="7.212499731616968e+61" dir="4.2316648611840007e+73">
              <a:srgbClr val="8A94A6">
                <a:alpha val="2.5e+7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75191" y="190195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0.125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14400" y="3200400"/>
            <a:ext cx="10362895" cy="822960"/>
          </a:xfrm>
          <a:prstGeom prst="roundRect">
            <a:avLst>
              <a:gd name="adj" fmla="val 13333"/>
            </a:avLst>
          </a:prstGeom>
          <a:solidFill>
            <a:srgbClr val="E4F6EC"/>
          </a:solidFill>
          <a:ln/>
          <a:effectLst>
            <a:outerShdw sx="100000" sy="100000" kx="0" ky="0" algn="bl" rotWithShape="0" blurRad="2.747962397746064e+66" dist="9.15987465915355e+65" dir="2.5389989167104004e+78">
              <a:srgbClr val="8A94A6">
                <a:alpha val="2.4999999999999997e+79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320040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H(X) = 1.75 bits/symbol  (already computed earlier)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1520" y="43434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does Huffman's mechanical procedure rediscover that same optimal code?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Combine step by step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tie together the two smallest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171907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190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27632" y="1673352"/>
            <a:ext cx="955822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Sorted:  A=0.50   B=0.25   C=0.125   D=0.125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05840" y="258775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587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27632" y="2542032"/>
            <a:ext cx="955822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 the two smallest, C + D = 0.125 + 0.125 = 0.25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05840" y="345643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4564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27632" y="3410712"/>
            <a:ext cx="955822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Now:  A=0.50   B=0.25   {CD}=0.25  —  combine B + {CD} = 0.50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05840" y="432511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27632" y="4279392"/>
            <a:ext cx="9558223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Now:  A=0.50   {BCD}=0.50  —  combine to close the tree: 1.00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Read the tree → codewords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to leaf, 0 on one branch, 1 on the other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3.4899122451375014e+70" dist="1.1633040817125008e+70" dir="1.5233993500262402e+83">
              <a:srgbClr val="8A94A6">
                <a:alpha val="2.4999999999999996e+84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1907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→ 0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bit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82264" y="164592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4.432188551324627e+74" dist="1.477396183774876e+74" dir="9.14039610015744e+87">
              <a:srgbClr val="8A94A6">
                <a:alpha val="2.4999999999999996e+8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73704" y="171907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→ 10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bits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33008" y="164592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5.628879460182276e+78" dist="1.8762931533940924e+78" dir="5.484237660094465e+92">
              <a:srgbClr val="8A94A6">
                <a:alpha val="2.4999999999999997e+94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4448" y="171907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→ 110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bits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983751" y="1645920"/>
            <a:ext cx="2476424" cy="1051560"/>
          </a:xfrm>
          <a:prstGeom prst="roundRect">
            <a:avLst>
              <a:gd name="adj" fmla="val 8696"/>
            </a:avLst>
          </a:prstGeom>
          <a:solidFill>
            <a:srgbClr val="FCE5E5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7.14867691443149e+82" dist="2.3828923048104974e+82" dir="3.2905425960566786e+97">
              <a:srgbClr val="8A94A6">
                <a:alpha val="2.4999999999999996e+99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75191" y="1719072"/>
            <a:ext cx="229354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 → 111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bits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14400" y="3017520"/>
            <a:ext cx="10362895" cy="914400"/>
          </a:xfrm>
          <a:prstGeom prst="roundRect">
            <a:avLst>
              <a:gd name="adj" fmla="val 12000"/>
            </a:avLst>
          </a:prstGeom>
          <a:solidFill>
            <a:srgbClr val="E4F6EC"/>
          </a:solidFill>
          <a:ln/>
          <a:effectLst>
            <a:outerShdw sx="100000" sy="100000" kx="0" ky="0" algn="bl" rotWithShape="0" blurRad="9.078819681327992e+86" dist="3.0262732271093317e+86" dir="1.9743255576340073e+102">
              <a:srgbClr val="8A94A6">
                <a:alpha val="2.4999999999999995e+104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3017520"/>
            <a:ext cx="99971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H(X) = 1.75 bits/symbol   →   η = 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31520" y="4297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A0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Exactly the code we already knew was optimal — Huffman found it mechanically, with no guessing.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31520" y="4846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happens because every probability here is a power of ½ — a special “D-adic” source.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A more realistic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Seven symbols — probabilities are not neat powers of ½ this time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1920240"/>
          <a:ext cx="9814255" cy="914400"/>
        </p:xfrm>
        <a:graphic>
          <a:graphicData uri="http://schemas.openxmlformats.org/drawingml/2006/table">
            <a:tbl>
              <a:tblPr/>
              <a:tblGrid>
                <a:gridCol w="1226782"/>
                <a:gridCol w="1226782"/>
                <a:gridCol w="1226782"/>
                <a:gridCol w="1226782"/>
                <a:gridCol w="1226782"/>
                <a:gridCol w="1226782"/>
                <a:gridCol w="1226782"/>
                <a:gridCol w="122678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Symbol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x₁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x₂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x₃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x₄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x₅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x₆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x₇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Probability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0.33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0.16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0.07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0.04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0.02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0.01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29184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Equiprobable would need 3 bits/symbol (since 2³ = 8 ≥ 7). Can Huffman beat that on average?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914400" y="4114800"/>
            <a:ext cx="10362895" cy="914400"/>
          </a:xfrm>
          <a:prstGeom prst="roundRect">
            <a:avLst>
              <a:gd name="adj" fmla="val 12000"/>
            </a:avLst>
          </a:prstGeom>
          <a:solidFill>
            <a:srgbClr val="E2EEFC"/>
          </a:solidFill>
          <a:ln/>
          <a:effectLst>
            <a:outerShdw sx="100000" sy="100000" kx="0" ky="0" algn="bl" rotWithShape="0" blurRad="1.153010099528655e+91" dist="3.8433669984288512e+90" dir="1.1845953345804043e+107">
              <a:srgbClr val="8A94A6">
                <a:alpha val="2.4999999999999996e+10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97280" y="4114800"/>
            <a:ext cx="99971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Arrange in decreasing order — exactly as given here — and start combining from the bottom.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Build the Huffman tree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Repeatedly combine the two smallest nodes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158191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819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27632" y="1536192"/>
            <a:ext cx="9558223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0.01 + 0.02 = 0.03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05840" y="2240280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2402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27632" y="2194560"/>
            <a:ext cx="9558223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 + 0.04 = 0.07   (now two nodes both read 0.07)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05840" y="2898648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89864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27632" y="2852928"/>
            <a:ext cx="9558223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0.07 + 0.07 = 0.14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05840" y="3557016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5570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27632" y="3511296"/>
            <a:ext cx="9558223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0.14 + 0.16 = 0.30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05840" y="4215384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153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27632" y="4169664"/>
            <a:ext cx="9558223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0.30 + 0.33 = 0.63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005840" y="4873752"/>
            <a:ext cx="420624" cy="420624"/>
          </a:xfrm>
          <a:prstGeom prst="ellipse">
            <a:avLst/>
          </a:prstGeom>
          <a:solidFill>
            <a:srgbClr val="E2EEFC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873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27632" y="4828032"/>
            <a:ext cx="9558223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32B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0.63 + 0.37 = 1.00   — tree complete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 Codewords &amp; efficiency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the tree back out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88720" y="1554480"/>
          <a:ext cx="9814255" cy="914400"/>
        </p:xfrm>
        <a:graphic>
          <a:graphicData uri="http://schemas.openxmlformats.org/drawingml/2006/table">
            <a:tbl>
              <a:tblPr/>
              <a:tblGrid>
                <a:gridCol w="1962851"/>
                <a:gridCol w="1962851"/>
                <a:gridCol w="1962851"/>
                <a:gridCol w="1962851"/>
                <a:gridCol w="1962851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Symbol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Prob.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Self-info (bits)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Codeword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Length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x₁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1.43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x₂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0.33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x₃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x₄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0.07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3.84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1110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x₅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4.64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11110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x₆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0.02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111110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x₇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6.64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111111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2B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14400" y="4663440"/>
            <a:ext cx="10362895" cy="777240"/>
          </a:xfrm>
          <a:prstGeom prst="roundRect">
            <a:avLst>
              <a:gd name="adj" fmla="val 14118"/>
            </a:avLst>
          </a:prstGeom>
          <a:solidFill>
            <a:srgbClr val="E4F6EC"/>
          </a:solidFill>
          <a:ln/>
          <a:effectLst>
            <a:outerShdw sx="100000" sy="100000" kx="0" ky="0" algn="bl" rotWithShape="0" blurRad="1.4643228264013918e+95" dist="4.8810760880046414e+94" dir="7.107572007482426e+111">
              <a:srgbClr val="8A94A6">
                <a:alpha val="2.4999999999999995e+114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663440"/>
            <a:ext cx="99971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H(X) = 2.1152 bits     L = 2.1700 bits     η = 0.9747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 Why isn't η exactly 1 here?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Self-information rarely lands on a whole number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Self-information values: 1.43, 1.60, 2.64, 3.84, 4.64, 5.64, 6.64 bits — none are integers.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codeword lengths MUST be whole numbers.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14400" y="3108960"/>
            <a:ext cx="10362895" cy="1188720"/>
          </a:xfrm>
          <a:prstGeom prst="roundRect">
            <a:avLst>
              <a:gd name="adj" fmla="val 9231"/>
            </a:avLst>
          </a:prstGeom>
          <a:solidFill>
            <a:srgbClr val="FCEFDA"/>
          </a:solidFill>
          <a:ln/>
          <a:effectLst>
            <a:outerShdw sx="100000" sy="100000" kx="0" ky="0" algn="bl" rotWithShape="0" blurRad="1.8596899895297677e+99" dist="6.198966631765894e+98" dir="4.2645432044894554e+116">
              <a:srgbClr val="8A94A6">
                <a:alpha val="2.4999999999999996e+11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3108960"/>
            <a:ext cx="99971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Huffman rounds each symbol to the nearest achievable length — a little bit is always “wasted” unless probabilities are exact powers of ½.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66344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A0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That's exactly why our earlier A,B,C,D source (all powers of ½) reached η = 1, and this one doesn't.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 Huffman codes aren't unique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Ties in probability can be broken either way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35728" cy="1234440"/>
          </a:xfrm>
          <a:prstGeom prst="roundRect">
            <a:avLst>
              <a:gd name="adj" fmla="val 7407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2.361806286702805e+103" dist="7.872687622342685e+102" dir="2.5587259226936733e+121">
              <a:srgbClr val="8A94A6">
                <a:alpha val="2.5e+124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64792"/>
            <a:ext cx="4952848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Tie-break A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0, 10, 011, 0110, 01110, 011110, 011111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24448" y="1691640"/>
            <a:ext cx="5135728" cy="1234440"/>
          </a:xfrm>
          <a:prstGeom prst="roundRect">
            <a:avLst>
              <a:gd name="adj" fmla="val 7407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2.999493984112562e+107" dist="9.998313280375211e+106" dir="1.535235553616204e+126">
              <a:srgbClr val="8A94A6">
                <a:alpha val="2.4999999999999998e+12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15888" y="1764792"/>
            <a:ext cx="4952848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Tie-break B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1, 00, 011, 0101, 01001, 010000, 010001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291840"/>
            <a:ext cx="10362895" cy="868680"/>
          </a:xfrm>
          <a:prstGeom prst="roundRect">
            <a:avLst>
              <a:gd name="adj" fmla="val 12632"/>
            </a:avLst>
          </a:prstGeom>
          <a:solidFill>
            <a:srgbClr val="FCEFDA"/>
          </a:solidFill>
          <a:ln/>
          <a:effectLst>
            <a:outerShdw sx="100000" sy="100000" kx="0" ky="0" algn="bl" rotWithShape="0" blurRad="3.809357359822954e+111" dist="1.2697857866076517e+111" dir="9.211413321697224e+130">
              <a:srgbClr val="8A94A6">
                <a:alpha val="2.5e+134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32918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are valid prefix codes. Both give the SAME L and the SAME η.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the codeword lengths matter for efficiency — which symbol gets which exact bit pattern doesn't.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 Extended Huffman — coding in blocks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code one symbol at a time?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12700">
            <a:solidFill>
              <a:srgbClr val="DC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Theory &amp; Coding  •  Huffman Coding  •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B symbols into a super-symbol and Huffman-code the blocks instead.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10362895" cy="868680"/>
          </a:xfrm>
          <a:prstGeom prst="roundRect">
            <a:avLst>
              <a:gd name="adj" fmla="val 12632"/>
            </a:avLst>
          </a:prstGeom>
          <a:solidFill>
            <a:srgbClr val="E4F6EC"/>
          </a:solidFill>
          <a:ln/>
          <a:effectLst>
            <a:outerShdw sx="100000" sy="100000" kx="0" ky="0" algn="bl" rotWithShape="0" blurRad="4.837883846975152e+115" dist="1.6126279489917177e+115" dir="5.526847993018334e+135">
              <a:srgbClr val="8A94A6">
                <a:alpha val="2.5e+13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219456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H(X)  ≤  L / B  &lt;  H(X) + 1/B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393338" cy="1005840"/>
          </a:xfrm>
          <a:prstGeom prst="roundRect">
            <a:avLst>
              <a:gd name="adj" fmla="val 9091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6.144112485658443e+119" dist="2.0480374952194813e+119" dir="3.3161087958110005e+140">
              <a:srgbClr val="8A94A6">
                <a:alpha val="2.5000000000000003e+144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10712"/>
            <a:ext cx="3210458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1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η = 0.9743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99178" y="3337560"/>
            <a:ext cx="3393338" cy="1005840"/>
          </a:xfrm>
          <a:prstGeom prst="roundRect">
            <a:avLst>
              <a:gd name="adj" fmla="val 9091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7.803022856786223e+123" dist="2.6010076189287412e+123" dir="1.9896652774866004e+145">
              <a:srgbClr val="8A94A6">
                <a:alpha val="2.5000000000000004e+14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90618" y="3410712"/>
            <a:ext cx="3210458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2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η = 0.9812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066837" y="3337560"/>
            <a:ext cx="3393338" cy="1005840"/>
          </a:xfrm>
          <a:prstGeom prst="roundRect">
            <a:avLst>
              <a:gd name="adj" fmla="val 9091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9.909839028118503e+127" dist="3.303279676039501e+127" dir="1.1937991664919603e+150">
              <a:srgbClr val="8A94A6">
                <a:alpha val="2.5000000000000003e+15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58277" y="3410712"/>
            <a:ext cx="3210458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→ large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η → 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46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gap to entropy shrinks as 1/B — at the cost of an exponentially bigger Huffman tree.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 One-minute recap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393338" cy="1188720"/>
          </a:xfrm>
          <a:prstGeom prst="roundRect">
            <a:avLst>
              <a:gd name="adj" fmla="val 7692"/>
            </a:avLst>
          </a:prstGeom>
          <a:solidFill>
            <a:srgbClr val="E2EEF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.2585495565710499e+132" dist="4.195165188570166e+131" dir="7.162794998951762e+154">
              <a:srgbClr val="8A94A6">
                <a:alpha val="2.5000000000000004e+159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353312"/>
            <a:ext cx="3210458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Combine the two smallest, repeat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399178" y="1280160"/>
            <a:ext cx="3393338" cy="1188720"/>
          </a:xfrm>
          <a:prstGeom prst="roundRect">
            <a:avLst>
              <a:gd name="adj" fmla="val 7692"/>
            </a:avLst>
          </a:prstGeom>
          <a:solidFill>
            <a:srgbClr val="E4F6EC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1.5983579368452334e+136" dist="5.327859789484111e+135" dir="4.297676999371057e+159">
              <a:srgbClr val="8A94A6">
                <a:alpha val="2.5000000000000003e+164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490618" y="1353312"/>
            <a:ext cx="3210458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EXAMPLES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D-adic source → η=1; real source → η≈0.97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66837" y="1280160"/>
            <a:ext cx="3393338" cy="1188720"/>
          </a:xfrm>
          <a:prstGeom prst="roundRect">
            <a:avLst>
              <a:gd name="adj" fmla="val 7692"/>
            </a:avLst>
          </a:prstGeom>
          <a:solidFill>
            <a:srgbClr val="FCEFDA"/>
          </a:solidFill>
          <a:ln w="12700">
            <a:solidFill>
              <a:srgbClr val="DCE1E8"/>
            </a:solidFill>
            <a:prstDash val="solid"/>
          </a:ln>
          <a:effectLst>
            <a:outerShdw sx="100000" sy="100000" kx="0" ky="0" algn="bl" rotWithShape="0" blurRad="2.0299145797934463e+140" dist="6.766381932644821e+139" dir="2.5786061996226343e+164">
              <a:srgbClr val="8A94A6">
                <a:alpha val="2.5000000000000004e+16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158277" y="1353312"/>
            <a:ext cx="3210458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23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BLOCKS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F69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Coding B symbols at once pushes η → 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97280" y="2834640"/>
            <a:ext cx="9997135" cy="685800"/>
          </a:xfrm>
          <a:prstGeom prst="roundRect">
            <a:avLst>
              <a:gd name="adj" fmla="val 13333"/>
            </a:avLst>
          </a:prstGeom>
          <a:solidFill>
            <a:srgbClr val="1C2F52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834640"/>
            <a:ext cx="94484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Huffman = build the tree from the bottom up, smallest first.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97280" y="3703320"/>
            <a:ext cx="9997135" cy="685800"/>
          </a:xfrm>
          <a:prstGeom prst="roundRect">
            <a:avLst>
              <a:gd name="adj" fmla="val 13333"/>
            </a:avLst>
          </a:prstGeom>
          <a:solidFill>
            <a:srgbClr val="1C2F52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3703320"/>
            <a:ext cx="94484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It's optimal among prefix codes — but the exact codewords are not unique.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97280" y="4572000"/>
            <a:ext cx="9997135" cy="685800"/>
          </a:xfrm>
          <a:prstGeom prst="roundRect">
            <a:avLst>
              <a:gd name="adj" fmla="val 13333"/>
            </a:avLst>
          </a:prstGeom>
          <a:solidFill>
            <a:srgbClr val="1C2F52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572000"/>
            <a:ext cx="94484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Coding in blocks (Extended Huffman) trades tree size for efficiency closer to H(X).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2026-08-18T04:28:52Z</dcterms:created>
  <dcterms:modified xsi:type="dcterms:W3CDTF">2026-08-18T04:28:52Z</dcterms:modified>
</cp:coreProperties>
</file>